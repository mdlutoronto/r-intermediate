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8"/>
  </p:notesMasterIdLst>
  <p:sldIdLst>
    <p:sldId id="449" r:id="rId2"/>
    <p:sldId id="451" r:id="rId3"/>
    <p:sldId id="341" r:id="rId4"/>
    <p:sldId id="405" r:id="rId5"/>
    <p:sldId id="407" r:id="rId6"/>
    <p:sldId id="418" r:id="rId7"/>
    <p:sldId id="403" r:id="rId8"/>
    <p:sldId id="422" r:id="rId9"/>
    <p:sldId id="421" r:id="rId10"/>
    <p:sldId id="417" r:id="rId11"/>
    <p:sldId id="412" r:id="rId12"/>
    <p:sldId id="371" r:id="rId13"/>
    <p:sldId id="426" r:id="rId14"/>
    <p:sldId id="406" r:id="rId15"/>
    <p:sldId id="410" r:id="rId16"/>
    <p:sldId id="372" r:id="rId17"/>
    <p:sldId id="440" r:id="rId18"/>
    <p:sldId id="429" r:id="rId19"/>
    <p:sldId id="431" r:id="rId20"/>
    <p:sldId id="430" r:id="rId21"/>
    <p:sldId id="445" r:id="rId22"/>
    <p:sldId id="435" r:id="rId23"/>
    <p:sldId id="447" r:id="rId24"/>
    <p:sldId id="305" r:id="rId25"/>
    <p:sldId id="381" r:id="rId26"/>
    <p:sldId id="306" r:id="rId2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334"/>
    <a:srgbClr val="001C2A"/>
    <a:srgbClr val="011926"/>
    <a:srgbClr val="021824"/>
    <a:srgbClr val="002D42"/>
    <a:srgbClr val="060606"/>
    <a:srgbClr val="FF7C80"/>
    <a:srgbClr val="0099FF"/>
    <a:srgbClr val="0082DA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60" autoAdjust="0"/>
    <p:restoredTop sz="93792" autoAdjust="0"/>
  </p:normalViewPr>
  <p:slideViewPr>
    <p:cSldViewPr snapToGrid="0">
      <p:cViewPr varScale="1">
        <p:scale>
          <a:sx n="121" d="100"/>
          <a:sy n="121" d="100"/>
        </p:scale>
        <p:origin x="168" y="19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30BC517-2337-4C95-BC51-E4E86C82687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C59F407-001A-4579-84D5-FF93DBAE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65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9F407-001A-4579-84D5-FF93DBAE73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09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9F407-001A-4579-84D5-FF93DBAE73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56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27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6913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064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939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726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0515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3017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4324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4696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679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3935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0178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2222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7751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420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108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3840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9911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36657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13958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9F407-001A-4579-84D5-FF93DBAE736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4112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6D456-9ADD-C814-EE26-D1F993ABF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074D8-4819-BAEF-526C-217236CA5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51F9C-2EF5-4835-ABAE-C27657DD9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29B71-D6BA-5CB7-C82C-54E12602AF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9F407-001A-4579-84D5-FF93DBAE736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120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9F407-001A-4579-84D5-FF93DBAE736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31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4E81-7C3B-4847-80CC-5B1C8CD7C28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D7666-3CCB-413B-82E0-44C2B47FA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80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4E81-7C3B-4847-80CC-5B1C8CD7C28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D7666-3CCB-413B-82E0-44C2B47FA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37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4E81-7C3B-4847-80CC-5B1C8CD7C28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D7666-3CCB-413B-82E0-44C2B47FA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18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4E81-7C3B-4847-80CC-5B1C8CD7C28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D7666-3CCB-413B-82E0-44C2B47FA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46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4E81-7C3B-4847-80CC-5B1C8CD7C28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D7666-3CCB-413B-82E0-44C2B47FA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09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4E81-7C3B-4847-80CC-5B1C8CD7C28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D7666-3CCB-413B-82E0-44C2B47FA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67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4E81-7C3B-4847-80CC-5B1C8CD7C28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D7666-3CCB-413B-82E0-44C2B47FA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64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4E81-7C3B-4847-80CC-5B1C8CD7C28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D7666-3CCB-413B-82E0-44C2B47FA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9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4E81-7C3B-4847-80CC-5B1C8CD7C28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D7666-3CCB-413B-82E0-44C2B47FA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87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4E81-7C3B-4847-80CC-5B1C8CD7C28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D7666-3CCB-413B-82E0-44C2B47FA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0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4E81-7C3B-4847-80CC-5B1C8CD7C28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D7666-3CCB-413B-82E0-44C2B47FA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91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14E81-7C3B-4847-80CC-5B1C8CD7C28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D7666-3CCB-413B-82E0-44C2B47FA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18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unsplash.com/@socialcu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mdl.library.utoronto.ca/support/workshops-and-training" TargetMode="External"/><Relationship Id="rId3" Type="http://schemas.openxmlformats.org/officeDocument/2006/relationships/hyperlink" Target="https://q.utoronto.ca/courses/233262/assignments/syllabus" TargetMode="External"/><Relationship Id="rId7" Type="http://schemas.openxmlformats.org/officeDocument/2006/relationships/hyperlink" Target="https://libcal.library.utoronto.ca/calendar/mdl" TargetMode="External"/><Relationship Id="rId12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ookdown.org/" TargetMode="External"/><Relationship Id="rId11" Type="http://schemas.openxmlformats.org/officeDocument/2006/relationships/hyperlink" Target="https://unsplash.com/@socialcut" TargetMode="External"/><Relationship Id="rId5" Type="http://schemas.openxmlformats.org/officeDocument/2006/relationships/hyperlink" Target="https://www.r-bloggers.com/" TargetMode="External"/><Relationship Id="rId10" Type="http://schemas.openxmlformats.org/officeDocument/2006/relationships/hyperlink" Target="https://mdl.library.utoronto.ca/about/contact-form" TargetMode="External"/><Relationship Id="rId4" Type="http://schemas.openxmlformats.org/officeDocument/2006/relationships/hyperlink" Target="https://opensource.posit.co/resources/cheatsheets/" TargetMode="External"/><Relationship Id="rId9" Type="http://schemas.openxmlformats.org/officeDocument/2006/relationships/hyperlink" Target="https://library.utoronto.ca/contact-us/data-maps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mailto:https://docs.google.com/forms/d/1DjSQLeaP9kCI_doGzCtFvbEXj0Lr1w5HO3_C6wi-hfI/viewform?pli=1&amp;pli=1&amp;edit_requested=true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ailto:nadia.muhe@utoronto.ca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8168" y="1846018"/>
            <a:ext cx="5625032" cy="2387600"/>
          </a:xfrm>
        </p:spPr>
        <p:txBody>
          <a:bodyPr>
            <a:normAutofit/>
          </a:bodyPr>
          <a:lstStyle/>
          <a:p>
            <a:pPr lvl="0" algn="l">
              <a:spcBef>
                <a:spcPts val="1000"/>
              </a:spcBef>
            </a:pPr>
            <a:r>
              <a:rPr lang="en-US" sz="4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Book" panose="02000503020000020003" pitchFamily="2" charset="0"/>
              </a:rPr>
              <a:t>Intermediate R</a:t>
            </a:r>
            <a:br>
              <a:rPr lang="en-US" sz="2900" b="1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</a:br>
            <a:br>
              <a:rPr lang="en-US" sz="2900" b="1" dirty="0">
                <a:solidFill>
                  <a:schemeClr val="accent1">
                    <a:lumMod val="50000"/>
                  </a:schemeClr>
                </a:solidFill>
                <a:latin typeface="Avenir Book" panose="02000503020000020003" pitchFamily="2" charset="0"/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rPr>
              <a:t>By Nadia Muhe</a:t>
            </a: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rPr>
              <a:t>Map &amp; Data Library</a:t>
            </a: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rPr>
              <a:t>University of Toronto</a:t>
            </a:r>
            <a:endParaRPr lang="en-US" sz="2900" b="1" dirty="0">
              <a:solidFill>
                <a:schemeClr val="tx1">
                  <a:lumMod val="75000"/>
                  <a:lumOff val="25000"/>
                </a:schemeClr>
              </a:solidFill>
              <a:latin typeface="Avenir Book" panose="02000503020000020003" pitchFamily="2" charset="0"/>
            </a:endParaRPr>
          </a:p>
        </p:txBody>
      </p:sp>
      <p:pic>
        <p:nvPicPr>
          <p:cNvPr id="1026" name="Picture 2" descr="white, red, and green abstract painting">
            <a:extLst>
              <a:ext uri="{FF2B5EF4-FFF2-40B4-BE49-F238E27FC236}">
                <a16:creationId xmlns:a16="http://schemas.microsoft.com/office/drawing/2014/main" id="{ECB5CBDA-DC30-9677-20CD-EE055AABF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227" y="0"/>
            <a:ext cx="5124773" cy="683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2523AE-2F89-2826-D4A4-5AF0A54E18AA}"/>
              </a:ext>
            </a:extLst>
          </p:cNvPr>
          <p:cNvCxnSpPr/>
          <p:nvPr/>
        </p:nvCxnSpPr>
        <p:spPr>
          <a:xfrm>
            <a:off x="1000896" y="4473147"/>
            <a:ext cx="2700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F70D968-2B40-9BD5-28C4-DE53481C2021}"/>
              </a:ext>
            </a:extLst>
          </p:cNvPr>
          <p:cNvSpPr txBox="1"/>
          <p:nvPr/>
        </p:nvSpPr>
        <p:spPr>
          <a:xfrm>
            <a:off x="10149017" y="6523146"/>
            <a:ext cx="20429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unsplash.com/@socialcut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026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Book" panose="02000503020000020003" pitchFamily="2" charset="0"/>
              </a:rPr>
              <a:t>Agenda</a:t>
            </a:r>
          </a:p>
        </p:txBody>
      </p:sp>
      <p:sp>
        <p:nvSpPr>
          <p:cNvPr id="53" name="Content Placeholder 4"/>
          <p:cNvSpPr>
            <a:spLocks noGrp="1"/>
          </p:cNvSpPr>
          <p:nvPr>
            <p:ph idx="1"/>
          </p:nvPr>
        </p:nvSpPr>
        <p:spPr>
          <a:xfrm>
            <a:off x="5894961" y="1982552"/>
            <a:ext cx="6103450" cy="2842838"/>
          </a:xfrm>
        </p:spPr>
        <p:txBody>
          <a:bodyPr numCol="2">
            <a:normAutofit/>
          </a:bodyPr>
          <a:lstStyle/>
          <a:p>
            <a:pPr marL="473075" indent="-457200">
              <a:buSzPct val="75000"/>
              <a:buFont typeface="Zapf Dingbats"/>
              <a:buChar char="✽"/>
            </a:pP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Book" panose="02000503020000020003" pitchFamily="2" charset="0"/>
              </a:rPr>
              <a:t>DPLYR</a:t>
            </a:r>
          </a:p>
          <a:p>
            <a:pPr marL="473075" indent="-457200">
              <a:buSzPct val="75000"/>
              <a:buFont typeface="Zapf Dingbats"/>
              <a:buChar char="✽"/>
            </a:pP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Book" panose="02000503020000020003" pitchFamily="2" charset="0"/>
              </a:rPr>
              <a:t>If Statements</a:t>
            </a:r>
          </a:p>
          <a:p>
            <a:pPr marL="473075" indent="-457200">
              <a:buSzPct val="75000"/>
              <a:buFont typeface="Zapf Dingbats"/>
              <a:buChar char="✽"/>
            </a:pP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Book" panose="02000503020000020003" pitchFamily="2" charset="0"/>
              </a:rPr>
              <a:t>For Loops</a:t>
            </a:r>
          </a:p>
          <a:p>
            <a:pPr marL="473075" indent="-457200">
              <a:buSzPct val="75000"/>
              <a:buFont typeface="Zapf Dingbats"/>
              <a:buChar char="✽"/>
            </a:pP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Book" panose="02000503020000020003" pitchFamily="2" charset="0"/>
              </a:rPr>
              <a:t>Functions</a:t>
            </a:r>
          </a:p>
          <a:p>
            <a:pPr marL="473075" indent="-457200">
              <a:buSzPct val="75000"/>
              <a:buFont typeface="Zapf Dingbats"/>
              <a:buChar char="✽"/>
            </a:pP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Book" panose="02000503020000020003" pitchFamily="2" charset="0"/>
              </a:rPr>
              <a:t>Resources</a:t>
            </a:r>
          </a:p>
        </p:txBody>
      </p:sp>
      <p:pic>
        <p:nvPicPr>
          <p:cNvPr id="2050" name="Picture 2" descr="white, red, and green abstract painting">
            <a:extLst>
              <a:ext uri="{FF2B5EF4-FFF2-40B4-BE49-F238E27FC236}">
                <a16:creationId xmlns:a16="http://schemas.microsoft.com/office/drawing/2014/main" id="{7CCCEDCB-2383-641D-E327-1B76E1C88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1816" y="798787"/>
            <a:ext cx="3816005" cy="401495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C9C5BAED-E8A8-4349-12B4-49CD833FF965}"/>
              </a:ext>
            </a:extLst>
          </p:cNvPr>
          <p:cNvSpPr/>
          <p:nvPr/>
        </p:nvSpPr>
        <p:spPr>
          <a:xfrm>
            <a:off x="1081816" y="5383044"/>
            <a:ext cx="576000" cy="216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DDC6C6-14C8-A212-FA86-DD365E5A0D32}"/>
              </a:ext>
            </a:extLst>
          </p:cNvPr>
          <p:cNvSpPr txBox="1"/>
          <p:nvPr/>
        </p:nvSpPr>
        <p:spPr>
          <a:xfrm>
            <a:off x="1846821" y="5175573"/>
            <a:ext cx="8316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github.com/MDLutoronto/r-intermediate</a:t>
            </a:r>
          </a:p>
        </p:txBody>
      </p:sp>
    </p:spTree>
    <p:extLst>
      <p:ext uri="{BB962C8B-B14F-4D97-AF65-F5344CB8AC3E}">
        <p14:creationId xmlns:p14="http://schemas.microsoft.com/office/powerpoint/2010/main" val="2193617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67203"/>
            <a:ext cx="9144000" cy="2387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5400" dirty="0">
                <a:latin typeface="Avenir Book" panose="02000503020000020003" pitchFamily="2" charset="0"/>
              </a:rPr>
              <a:t>IF STATEMENTS</a:t>
            </a:r>
            <a:br>
              <a:rPr lang="en-US" sz="5400" dirty="0">
                <a:latin typeface="Avenir Book" panose="02000503020000020003" pitchFamily="2" charset="0"/>
              </a:rPr>
            </a:br>
            <a:endParaRPr lang="en-US" sz="5400" dirty="0">
              <a:latin typeface="Avenir Book" panose="02000503020000020003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C8473E6-19AB-EB4F-6DC2-A8A0870F27FE}"/>
              </a:ext>
            </a:extLst>
          </p:cNvPr>
          <p:cNvCxnSpPr/>
          <p:nvPr/>
        </p:nvCxnSpPr>
        <p:spPr>
          <a:xfrm>
            <a:off x="4698836" y="4015949"/>
            <a:ext cx="2700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353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if(condition)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29146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if(</a:t>
            </a:r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Comic Sans MS" panose="030F0702030302020204" pitchFamily="66" charset="0"/>
              </a:rPr>
              <a:t>condition</a:t>
            </a:r>
            <a:r>
              <a:rPr lang="en-US" sz="3600" dirty="0">
                <a:latin typeface="Comic Sans MS" panose="030F0702030302020204" pitchFamily="66" charset="0"/>
              </a:rPr>
              <a:t>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</a:t>
            </a:r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Comic Sans MS" panose="030F0702030302020204" pitchFamily="66" charset="0"/>
              </a:rPr>
              <a:t>statement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1418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if(condition)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 else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666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if(condition 1)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 1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 else if(condition 2)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 2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 else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 3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6494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if(</a:t>
            </a:r>
            <a:r>
              <a:rPr lang="en-US" sz="3600" dirty="0">
                <a:solidFill>
                  <a:srgbClr val="92D050"/>
                </a:solidFill>
                <a:latin typeface="Comic Sans MS" panose="030F0702030302020204" pitchFamily="66" charset="0"/>
              </a:rPr>
              <a:t>condition 1</a:t>
            </a:r>
            <a:r>
              <a:rPr lang="en-US" sz="3600" dirty="0">
                <a:latin typeface="Comic Sans MS" panose="030F0702030302020204" pitchFamily="66" charset="0"/>
              </a:rPr>
              <a:t>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 1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 else if(condition 2)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 2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 else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 3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3A06D78-9B02-7787-587F-F1E8F35D7616}"/>
              </a:ext>
            </a:extLst>
          </p:cNvPr>
          <p:cNvSpPr/>
          <p:nvPr/>
        </p:nvSpPr>
        <p:spPr>
          <a:xfrm>
            <a:off x="2036618" y="1824645"/>
            <a:ext cx="473825" cy="1496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67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if(</a:t>
            </a:r>
            <a:r>
              <a:rPr lang="en-US" sz="3600" dirty="0">
                <a:solidFill>
                  <a:srgbClr val="C00000"/>
                </a:solidFill>
                <a:latin typeface="Comic Sans MS" panose="030F0702030302020204" pitchFamily="66" charset="0"/>
              </a:rPr>
              <a:t>condition 1</a:t>
            </a:r>
            <a:r>
              <a:rPr lang="en-US" sz="3600" dirty="0">
                <a:latin typeface="Comic Sans MS" panose="030F0702030302020204" pitchFamily="66" charset="0"/>
              </a:rPr>
              <a:t>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 1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 else if(</a:t>
            </a:r>
            <a:r>
              <a:rPr lang="en-US" sz="3600" dirty="0">
                <a:solidFill>
                  <a:srgbClr val="92D050"/>
                </a:solidFill>
                <a:latin typeface="Comic Sans MS" panose="030F0702030302020204" pitchFamily="66" charset="0"/>
              </a:rPr>
              <a:t>condition 2</a:t>
            </a:r>
            <a:r>
              <a:rPr lang="en-US" sz="3600" dirty="0">
                <a:latin typeface="Comic Sans MS" panose="030F0702030302020204" pitchFamily="66" charset="0"/>
              </a:rPr>
              <a:t>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 2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 else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 3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3A06D78-9B02-7787-587F-F1E8F35D7616}"/>
              </a:ext>
            </a:extLst>
          </p:cNvPr>
          <p:cNvSpPr/>
          <p:nvPr/>
        </p:nvSpPr>
        <p:spPr>
          <a:xfrm>
            <a:off x="2036618" y="3237801"/>
            <a:ext cx="473825" cy="1496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01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if(</a:t>
            </a:r>
            <a:r>
              <a:rPr lang="en-US" sz="3600" dirty="0">
                <a:solidFill>
                  <a:srgbClr val="C00000"/>
                </a:solidFill>
                <a:latin typeface="Comic Sans MS" panose="030F0702030302020204" pitchFamily="66" charset="0"/>
              </a:rPr>
              <a:t>condition 1</a:t>
            </a:r>
            <a:r>
              <a:rPr lang="en-US" sz="3600" dirty="0">
                <a:latin typeface="Comic Sans MS" panose="030F0702030302020204" pitchFamily="66" charset="0"/>
              </a:rPr>
              <a:t>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 1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 else if(</a:t>
            </a:r>
            <a:r>
              <a:rPr lang="en-US" sz="3600" dirty="0">
                <a:solidFill>
                  <a:srgbClr val="C00000"/>
                </a:solidFill>
                <a:latin typeface="Comic Sans MS" panose="030F0702030302020204" pitchFamily="66" charset="0"/>
              </a:rPr>
              <a:t>condition 2</a:t>
            </a:r>
            <a:r>
              <a:rPr lang="en-US" sz="3600" dirty="0">
                <a:latin typeface="Comic Sans MS" panose="030F0702030302020204" pitchFamily="66" charset="0"/>
              </a:rPr>
              <a:t>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 2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 else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 3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3A06D78-9B02-7787-587F-F1E8F35D7616}"/>
              </a:ext>
            </a:extLst>
          </p:cNvPr>
          <p:cNvSpPr/>
          <p:nvPr/>
        </p:nvSpPr>
        <p:spPr>
          <a:xfrm>
            <a:off x="2036618" y="4626032"/>
            <a:ext cx="473825" cy="1496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88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if(</a:t>
            </a:r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Comic Sans MS" panose="030F0702030302020204" pitchFamily="66" charset="0"/>
              </a:rPr>
              <a:t>condition 1</a:t>
            </a:r>
            <a:r>
              <a:rPr lang="en-US" sz="3600" dirty="0">
                <a:latin typeface="Comic Sans MS" panose="030F0702030302020204" pitchFamily="66" charset="0"/>
              </a:rPr>
              <a:t>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</a:t>
            </a:r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Comic Sans MS" panose="030F0702030302020204" pitchFamily="66" charset="0"/>
              </a:rPr>
              <a:t>statement 1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 else if(</a:t>
            </a:r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Comic Sans MS" panose="030F0702030302020204" pitchFamily="66" charset="0"/>
              </a:rPr>
              <a:t>condition 2</a:t>
            </a:r>
            <a:r>
              <a:rPr lang="en-US" sz="3600" dirty="0">
                <a:latin typeface="Comic Sans MS" panose="030F0702030302020204" pitchFamily="66" charset="0"/>
              </a:rPr>
              <a:t>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</a:t>
            </a:r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Comic Sans MS" panose="030F0702030302020204" pitchFamily="66" charset="0"/>
              </a:rPr>
              <a:t>statement 2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 else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</a:t>
            </a:r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Comic Sans MS" panose="030F0702030302020204" pitchFamily="66" charset="0"/>
              </a:rPr>
              <a:t>statement 3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73617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67203"/>
            <a:ext cx="9144000" cy="2387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5400" dirty="0">
                <a:latin typeface="Avenir Book" panose="02000503020000020003" pitchFamily="2" charset="0"/>
              </a:rPr>
              <a:t>FOR LOOPS</a:t>
            </a:r>
            <a:br>
              <a:rPr lang="en-US" sz="5400" dirty="0">
                <a:latin typeface="Avenir Book" panose="02000503020000020003" pitchFamily="2" charset="0"/>
              </a:rPr>
            </a:br>
            <a:endParaRPr lang="en-US" sz="5400" dirty="0">
              <a:latin typeface="Avenir Book" panose="02000503020000020003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ECADCE-B55F-CE92-314D-88BB01C2F171}"/>
              </a:ext>
            </a:extLst>
          </p:cNvPr>
          <p:cNvCxnSpPr/>
          <p:nvPr/>
        </p:nvCxnSpPr>
        <p:spPr>
          <a:xfrm>
            <a:off x="4698836" y="4015949"/>
            <a:ext cx="2700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00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4800" dirty="0">
                <a:latin typeface="Comic Sans MS" panose="030F0702030302020204" pitchFamily="66" charset="0"/>
              </a:rPr>
              <a:t>Loops: </a:t>
            </a:r>
          </a:p>
          <a:p>
            <a:pPr marL="1427163" indent="-571500">
              <a:lnSpc>
                <a:spcPct val="100000"/>
              </a:lnSpc>
              <a:spcBef>
                <a:spcPts val="1200"/>
              </a:spcBef>
              <a:buFont typeface="Comic Sans MS" panose="030F0702030302020204" pitchFamily="66" charset="0"/>
              <a:buChar char="-"/>
            </a:pPr>
            <a:r>
              <a:rPr lang="en-US" sz="4000" dirty="0">
                <a:latin typeface="Comic Sans MS" panose="030F0702030302020204" pitchFamily="66" charset="0"/>
              </a:rPr>
              <a:t>for loops</a:t>
            </a:r>
          </a:p>
          <a:p>
            <a:pPr marL="1427163" indent="-571500">
              <a:lnSpc>
                <a:spcPct val="100000"/>
              </a:lnSpc>
              <a:spcBef>
                <a:spcPts val="1200"/>
              </a:spcBef>
              <a:buFont typeface="Comic Sans MS" panose="030F0702030302020204" pitchFamily="66" charset="0"/>
              <a:buChar char="-"/>
            </a:pPr>
            <a:r>
              <a:rPr lang="en-US" sz="4000" dirty="0">
                <a:latin typeface="Comic Sans MS" panose="030F0702030302020204" pitchFamily="66" charset="0"/>
              </a:rPr>
              <a:t>while loops</a:t>
            </a:r>
          </a:p>
          <a:p>
            <a:pPr marL="1427163" indent="-571500">
              <a:lnSpc>
                <a:spcPct val="100000"/>
              </a:lnSpc>
              <a:spcBef>
                <a:spcPts val="1200"/>
              </a:spcBef>
              <a:buFont typeface="Comic Sans MS" panose="030F0702030302020204" pitchFamily="66" charset="0"/>
              <a:buChar char="-"/>
            </a:pPr>
            <a:r>
              <a:rPr lang="en-US" sz="4000" dirty="0">
                <a:latin typeface="Comic Sans MS" panose="030F0702030302020204" pitchFamily="66" charset="0"/>
              </a:rPr>
              <a:t>repeat loops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4717DBB1-1B2B-8B00-007D-AF7AD6034AA7}"/>
              </a:ext>
            </a:extLst>
          </p:cNvPr>
          <p:cNvSpPr/>
          <p:nvPr/>
        </p:nvSpPr>
        <p:spPr>
          <a:xfrm rot="10800000">
            <a:off x="4751243" y="2600325"/>
            <a:ext cx="458932" cy="2095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C4B8C-AA00-2811-225D-86CC5F43E325}"/>
              </a:ext>
            </a:extLst>
          </p:cNvPr>
          <p:cNvCxnSpPr>
            <a:cxnSpLocks/>
          </p:cNvCxnSpPr>
          <p:nvPr/>
        </p:nvCxnSpPr>
        <p:spPr>
          <a:xfrm>
            <a:off x="2419349" y="2971800"/>
            <a:ext cx="2000251" cy="0"/>
          </a:xfrm>
          <a:prstGeom prst="line">
            <a:avLst/>
          </a:prstGeom>
          <a:ln>
            <a:solidFill>
              <a:srgbClr val="FF7C8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514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4000" dirty="0">
                <a:latin typeface="Comic Sans MS" panose="030F0702030302020204" pitchFamily="66" charset="0"/>
              </a:rPr>
              <a:t>for (value in sequence)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4000" dirty="0">
                <a:latin typeface="Comic Sans MS" panose="030F0702030302020204" pitchFamily="66" charset="0"/>
              </a:rPr>
              <a:t>		statement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4000" dirty="0"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25661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4000" dirty="0">
                <a:latin typeface="Comic Sans MS" panose="030F0702030302020204" pitchFamily="66" charset="0"/>
              </a:rPr>
              <a:t>for (</a:t>
            </a:r>
            <a:r>
              <a:rPr lang="en-US" sz="4000" dirty="0">
                <a:solidFill>
                  <a:schemeClr val="accent3">
                    <a:lumMod val="75000"/>
                  </a:schemeClr>
                </a:solidFill>
                <a:latin typeface="Comic Sans MS" panose="030F0702030302020204" pitchFamily="66" charset="0"/>
              </a:rPr>
              <a:t>value</a:t>
            </a:r>
            <a:r>
              <a:rPr lang="en-US" sz="4000" dirty="0">
                <a:latin typeface="Comic Sans MS" panose="030F0702030302020204" pitchFamily="66" charset="0"/>
              </a:rPr>
              <a:t> in </a:t>
            </a:r>
            <a:r>
              <a:rPr lang="en-US" sz="4000" dirty="0">
                <a:solidFill>
                  <a:schemeClr val="accent3">
                    <a:lumMod val="75000"/>
                  </a:schemeClr>
                </a:solidFill>
                <a:latin typeface="Comic Sans MS" panose="030F0702030302020204" pitchFamily="66" charset="0"/>
              </a:rPr>
              <a:t>sequence</a:t>
            </a:r>
            <a:r>
              <a:rPr lang="en-US" sz="4000" dirty="0">
                <a:latin typeface="Comic Sans MS" panose="030F0702030302020204" pitchFamily="66" charset="0"/>
              </a:rPr>
              <a:t>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4000" dirty="0">
                <a:latin typeface="Comic Sans MS" panose="030F0702030302020204" pitchFamily="66" charset="0"/>
              </a:rPr>
              <a:t>		</a:t>
            </a:r>
            <a:r>
              <a:rPr lang="en-US" sz="4000" dirty="0">
                <a:solidFill>
                  <a:schemeClr val="accent3">
                    <a:lumMod val="75000"/>
                  </a:schemeClr>
                </a:solidFill>
                <a:latin typeface="Comic Sans MS" panose="030F0702030302020204" pitchFamily="66" charset="0"/>
              </a:rPr>
              <a:t>statement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4000" dirty="0"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6679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67204"/>
            <a:ext cx="9144000" cy="2387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5400" dirty="0">
                <a:latin typeface="Avenir Book" panose="02000503020000020003" pitchFamily="2" charset="0"/>
              </a:rPr>
              <a:t>FUNCTIONS</a:t>
            </a:r>
            <a:br>
              <a:rPr lang="en-US" sz="5400" dirty="0">
                <a:latin typeface="Avenir Book" panose="02000503020000020003" pitchFamily="2" charset="0"/>
              </a:rPr>
            </a:br>
            <a:endParaRPr lang="en-US" sz="5400" dirty="0">
              <a:latin typeface="Avenir Book" panose="02000503020000020003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389F02-220D-960F-2D11-34664E17D35F}"/>
              </a:ext>
            </a:extLst>
          </p:cNvPr>
          <p:cNvCxnSpPr/>
          <p:nvPr/>
        </p:nvCxnSpPr>
        <p:spPr>
          <a:xfrm>
            <a:off x="4698836" y="4015949"/>
            <a:ext cx="2700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441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functionname &lt;-function()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1357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functionname &lt;-function(</a:t>
            </a:r>
            <a:r>
              <a:rPr lang="en-US" sz="3600" dirty="0" err="1">
                <a:latin typeface="Comic Sans MS" panose="030F0702030302020204" pitchFamily="66" charset="0"/>
              </a:rPr>
              <a:t>arg</a:t>
            </a:r>
            <a:r>
              <a:rPr lang="en-US" sz="3600" dirty="0">
                <a:latin typeface="Comic Sans MS" panose="030F0702030302020204" pitchFamily="66" charset="0"/>
              </a:rPr>
              <a:t>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490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functionname &lt;-function(arg1, arg2)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0181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functionname &lt;-function(arg1=value, arg2)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statement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48306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Comic Sans MS" panose="030F0702030302020204" pitchFamily="66" charset="0"/>
              </a:rPr>
              <a:t>functionname</a:t>
            </a:r>
            <a:r>
              <a:rPr lang="en-US" sz="3600" dirty="0">
                <a:latin typeface="Comic Sans MS" panose="030F0702030302020204" pitchFamily="66" charset="0"/>
              </a:rPr>
              <a:t> &lt;-function(</a:t>
            </a:r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Comic Sans MS" panose="030F0702030302020204" pitchFamily="66" charset="0"/>
              </a:rPr>
              <a:t>arg1=value, arg2</a:t>
            </a:r>
            <a:r>
              <a:rPr lang="en-US" sz="3600" dirty="0">
                <a:latin typeface="Comic Sans MS" panose="030F0702030302020204" pitchFamily="66" charset="0"/>
              </a:rPr>
              <a:t>) {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		</a:t>
            </a:r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Comic Sans MS" panose="030F0702030302020204" pitchFamily="66" charset="0"/>
              </a:rPr>
              <a:t>statement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5004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functionname()</a:t>
            </a:r>
          </a:p>
        </p:txBody>
      </p:sp>
    </p:spTree>
    <p:extLst>
      <p:ext uri="{BB962C8B-B14F-4D97-AF65-F5344CB8AC3E}">
        <p14:creationId xmlns:p14="http://schemas.microsoft.com/office/powerpoint/2010/main" val="1904328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functionname(value1, value2)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600" dirty="0">
                <a:latin typeface="Comic Sans MS" panose="030F0702030302020204" pitchFamily="66" charset="0"/>
              </a:rPr>
              <a:t>functionname(value2)</a:t>
            </a:r>
          </a:p>
          <a:p>
            <a:pPr marL="855663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sz="3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147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Book" panose="02000503020000020003" pitchFamily="2" charset="0"/>
              </a:rP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234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buSzPct val="50000"/>
              <a:buFont typeface="System Font Regular"/>
              <a:buChar char="■"/>
            </a:pPr>
            <a:r>
              <a:rPr lang="en-US" dirty="0"/>
              <a:t>Intermediate R Quercus course: </a:t>
            </a:r>
            <a:r>
              <a:rPr lang="en-US" sz="1900" dirty="0">
                <a:hlinkClick r:id="rId3"/>
              </a:rPr>
              <a:t>https://q.utoronto.ca/courses/233262/assignments/syllabus</a:t>
            </a:r>
            <a:r>
              <a:rPr lang="en-US" sz="1900" dirty="0"/>
              <a:t> </a:t>
            </a:r>
            <a:endParaRPr lang="en-US" sz="1800" dirty="0"/>
          </a:p>
          <a:p>
            <a:pPr>
              <a:lnSpc>
                <a:spcPct val="120000"/>
              </a:lnSpc>
              <a:buSzPct val="50000"/>
              <a:buFont typeface="System Font Regular"/>
              <a:buChar char="■"/>
            </a:pPr>
            <a:r>
              <a:rPr lang="en-US" dirty="0"/>
              <a:t>Cheat sheets: </a:t>
            </a:r>
            <a:r>
              <a:rPr lang="en-US" sz="1900" dirty="0">
                <a:hlinkClick r:id="rId4"/>
              </a:rPr>
              <a:t>https://opensource.posit.co/resources/cheatsheets/ </a:t>
            </a:r>
            <a:endParaRPr lang="en-US" sz="1900" dirty="0"/>
          </a:p>
          <a:p>
            <a:pPr>
              <a:lnSpc>
                <a:spcPct val="120000"/>
              </a:lnSpc>
              <a:buSzPct val="50000"/>
              <a:buFont typeface="System Font Regular"/>
              <a:buChar char="■"/>
            </a:pPr>
            <a:r>
              <a:rPr lang="en-US" dirty="0"/>
              <a:t>Carpentries</a:t>
            </a:r>
            <a:r>
              <a:rPr lang="en-US" sz="2000" dirty="0"/>
              <a:t>: </a:t>
            </a:r>
            <a:r>
              <a:rPr lang="en-US" sz="1900" dirty="0">
                <a:hlinkClick r:id="rId5"/>
              </a:rPr>
              <a:t>https://carpentries.org/</a:t>
            </a:r>
            <a:r>
              <a:rPr lang="en-US" sz="1900" dirty="0"/>
              <a:t> </a:t>
            </a:r>
          </a:p>
          <a:p>
            <a:pPr>
              <a:lnSpc>
                <a:spcPct val="120000"/>
              </a:lnSpc>
              <a:buSzPct val="50000"/>
              <a:buFont typeface="System Font Regular"/>
              <a:buChar char="■"/>
            </a:pPr>
            <a:r>
              <a:rPr lang="en-US" dirty="0"/>
              <a:t>R bloggers: </a:t>
            </a:r>
            <a:r>
              <a:rPr lang="en-US" sz="1900" dirty="0">
                <a:hlinkClick r:id="rId5"/>
              </a:rPr>
              <a:t>https://www.r-bloggers.com/</a:t>
            </a:r>
            <a:r>
              <a:rPr lang="en-US" sz="1900" dirty="0"/>
              <a:t>  </a:t>
            </a:r>
            <a:endParaRPr lang="en-US" sz="2000" dirty="0"/>
          </a:p>
          <a:p>
            <a:pPr>
              <a:lnSpc>
                <a:spcPct val="120000"/>
              </a:lnSpc>
              <a:buSzPct val="50000"/>
              <a:buFont typeface="System Font Regular"/>
              <a:buChar char="■"/>
            </a:pPr>
            <a:r>
              <a:rPr lang="en-CA" dirty="0"/>
              <a:t>Online R books: </a:t>
            </a:r>
            <a:r>
              <a:rPr lang="en-CA" sz="1900" dirty="0">
                <a:hlinkClick r:id="rId6"/>
              </a:rPr>
              <a:t>https://bookdown.org/</a:t>
            </a:r>
            <a:r>
              <a:rPr lang="en-CA" sz="1900" dirty="0"/>
              <a:t> </a:t>
            </a:r>
          </a:p>
          <a:p>
            <a:pPr>
              <a:lnSpc>
                <a:spcPct val="120000"/>
              </a:lnSpc>
              <a:buSzPct val="50000"/>
              <a:buFont typeface="System Font Regular"/>
              <a:buChar char="■"/>
            </a:pPr>
            <a:r>
              <a:rPr lang="en-US" dirty="0"/>
              <a:t>MDL workshops: </a:t>
            </a:r>
            <a:r>
              <a:rPr lang="en-US" sz="1900" dirty="0">
                <a:hlinkClick r:id="rId7"/>
              </a:rPr>
              <a:t>https://libcal.library.utoronto.ca/calendar/mdl</a:t>
            </a:r>
            <a:endParaRPr lang="en-US" sz="1900" dirty="0">
              <a:hlinkClick r:id="rId8"/>
            </a:endParaRPr>
          </a:p>
          <a:p>
            <a:pPr>
              <a:lnSpc>
                <a:spcPct val="120000"/>
              </a:lnSpc>
              <a:buSzPct val="50000"/>
              <a:buFont typeface="System Font Regular"/>
              <a:buChar char="■"/>
            </a:pPr>
            <a:r>
              <a:rPr lang="en-US" dirty="0"/>
              <a:t>MDL support request form</a:t>
            </a:r>
            <a:r>
              <a:rPr lang="en-US" sz="2000" dirty="0"/>
              <a:t>: </a:t>
            </a:r>
            <a:r>
              <a:rPr lang="en-US" sz="1900" dirty="0">
                <a:hlinkClick r:id="rId9"/>
              </a:rPr>
              <a:t>https://library.utoronto.ca/contact-us/data-maps</a:t>
            </a:r>
            <a:endParaRPr lang="en-US" sz="1900" dirty="0">
              <a:hlinkClick r:id="rId10"/>
            </a:endParaRPr>
          </a:p>
          <a:p>
            <a:pPr>
              <a:lnSpc>
                <a:spcPct val="120000"/>
              </a:lnSpc>
              <a:buSzPct val="50000"/>
              <a:buFont typeface="System Font Regular"/>
              <a:buChar char="■"/>
            </a:pPr>
            <a:r>
              <a:rPr lang="en-US" dirty="0"/>
              <a:t>PowerPoint photo by </a:t>
            </a:r>
            <a:r>
              <a:rPr lang="en-US" sz="1900" dirty="0">
                <a:hlinkClick r:id="rId11"/>
              </a:rPr>
              <a:t>https://unsplash.com/@socialcut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E8A1D-D1A1-66A8-B25D-67330EFB0C8E}"/>
              </a:ext>
            </a:extLst>
          </p:cNvPr>
          <p:cNvSpPr txBox="1"/>
          <p:nvPr/>
        </p:nvSpPr>
        <p:spPr>
          <a:xfrm>
            <a:off x="11546541" y="1"/>
            <a:ext cx="645459" cy="6857999"/>
          </a:xfrm>
          <a:prstGeom prst="rect">
            <a:avLst/>
          </a:prstGeom>
          <a:blipFill dpi="0" rotWithShape="1">
            <a:blip r:embed="rId1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093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E7C12-EB54-3329-033A-032CF0854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26A9E-0F05-71E1-36C4-D0C1B2C2E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Book" panose="02000503020000020003" pitchFamily="2" charset="0"/>
              </a:rPr>
              <a:t>Thank you!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49718-1917-ACBD-89FA-A3BB329C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3972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SzPct val="50000"/>
              <a:buNone/>
            </a:pPr>
            <a:r>
              <a:rPr lang="en-US" sz="3200" dirty="0">
                <a:latin typeface="Avenir Book" panose="02000503020000020003" pitchFamily="2" charset="0"/>
              </a:rPr>
              <a:t>Please scan the QR code or click </a:t>
            </a:r>
            <a:r>
              <a:rPr lang="en-US" sz="3200" dirty="0">
                <a:latin typeface="Avenir Book" panose="02000503020000020003" pitchFamily="2" charset="0"/>
                <a:hlinkClick r:id="rId3"/>
              </a:rPr>
              <a:t>here</a:t>
            </a:r>
            <a:r>
              <a:rPr lang="en-US" sz="3200" dirty="0">
                <a:latin typeface="Avenir Book" panose="02000503020000020003" pitchFamily="2" charset="0"/>
              </a:rPr>
              <a:t> to provide feedback.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CB37D5-ADC0-0C74-D981-20B015EF0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717" y="505866"/>
            <a:ext cx="5846268" cy="584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246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Book" panose="02000503020000020003" pitchFamily="2" charset="0"/>
              </a:rPr>
              <a:t>Contact Information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Nadia Muhe</a:t>
            </a:r>
          </a:p>
          <a:p>
            <a:pPr marL="0" indent="0">
              <a:buNone/>
            </a:pPr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Statistical Support Specialist</a:t>
            </a:r>
          </a:p>
          <a:p>
            <a:pPr marL="0" indent="0">
              <a:buNone/>
            </a:pPr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Email: </a:t>
            </a:r>
            <a:r>
              <a:rPr lang="en-US" sz="3000" dirty="0">
                <a:hlinkClick r:id="rId3"/>
              </a:rPr>
              <a:t>nadia.muhe@utoronto.ca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Phone</a:t>
            </a:r>
            <a:r>
              <a:rPr lang="en-US" sz="3000">
                <a:solidFill>
                  <a:schemeClr val="tx1">
                    <a:lumMod val="85000"/>
                    <a:lumOff val="15000"/>
                  </a:schemeClr>
                </a:solidFill>
              </a:rPr>
              <a:t>: 416-978-7689</a:t>
            </a: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CD6B62-77E6-0E75-F6D9-F7444E1E9202}"/>
              </a:ext>
            </a:extLst>
          </p:cNvPr>
          <p:cNvSpPr txBox="1"/>
          <p:nvPr/>
        </p:nvSpPr>
        <p:spPr>
          <a:xfrm>
            <a:off x="11546541" y="1"/>
            <a:ext cx="645459" cy="6857999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399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83889</TotalTime>
  <Words>478</Words>
  <Application>Microsoft Macintosh PowerPoint</Application>
  <PresentationFormat>Widescreen</PresentationFormat>
  <Paragraphs>125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</vt:lpstr>
      <vt:lpstr>Arial</vt:lpstr>
      <vt:lpstr>Avenir Book</vt:lpstr>
      <vt:lpstr>Calibri</vt:lpstr>
      <vt:lpstr>Calibri Light</vt:lpstr>
      <vt:lpstr>Comic Sans MS</vt:lpstr>
      <vt:lpstr>System Font Regular</vt:lpstr>
      <vt:lpstr>Zapf Dingbats</vt:lpstr>
      <vt:lpstr>Office Theme</vt:lpstr>
      <vt:lpstr>Intermediate R  By Nadia Muhe Map &amp; Data Library University of Toronto</vt:lpstr>
      <vt:lpstr>Agenda</vt:lpstr>
      <vt:lpstr>IF STATEMENTS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 LOOPS </vt:lpstr>
      <vt:lpstr>PowerPoint Presentation</vt:lpstr>
      <vt:lpstr>PowerPoint Presentation</vt:lpstr>
      <vt:lpstr>PowerPoint Presentation</vt:lpstr>
      <vt:lpstr>FUNCTIONS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Resources</vt:lpstr>
      <vt:lpstr>Thank you!</vt:lpstr>
      <vt:lpstr>Contact Information</vt:lpstr>
    </vt:vector>
  </TitlesOfParts>
  <Company>University of Toronto Libraries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Nadia Muhe</dc:creator>
  <cp:lastModifiedBy>Nadia Muhe</cp:lastModifiedBy>
  <cp:revision>1529</cp:revision>
  <cp:lastPrinted>2020-01-24T18:51:33Z</cp:lastPrinted>
  <dcterms:created xsi:type="dcterms:W3CDTF">2017-07-17T14:23:12Z</dcterms:created>
  <dcterms:modified xsi:type="dcterms:W3CDTF">2026-10-20T12:18:30Z</dcterms:modified>
</cp:coreProperties>
</file>